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  <p:sldId id="258" r:id="rId4"/>
  </p:sldIdLst>
  <p:sldSz cx="12192000" cy="6858000"/>
  <p:notesSz cx="6858000" cy="9144000"/>
  <p:defaultTextStyle>
    <a:defPPr>
      <a:defRPr lang="en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456"/>
    <p:restoredTop sz="94722"/>
  </p:normalViewPr>
  <p:slideViewPr>
    <p:cSldViewPr snapToGrid="0">
      <p:cViewPr varScale="1">
        <p:scale>
          <a:sx n="86" d="100"/>
          <a:sy n="86" d="100"/>
        </p:scale>
        <p:origin x="248" y="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82D85-D3AD-DC95-F363-9613DB49CD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566578-1401-42B3-0E85-883FE25396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25D79-6DA0-6CF4-FF36-775388E1F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EF20D-9ED0-7A4D-BB0D-F82659A8989D}" type="datetimeFigureOut">
              <a:rPr lang="en-CO" smtClean="0"/>
              <a:t>12/08/24</a:t>
            </a:fld>
            <a:endParaRPr lang="en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228C26-DA37-01F5-B5AF-D83B5D436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59E0C-A58B-B778-1F9B-C9C1E02A6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31DF7-40FC-CA41-9B68-7826511BF655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878304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5AAC3-E2E0-4E52-DE20-628D7453C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1FC3ED-FDF6-685E-6EF8-6C44CCC91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7B786-FB7C-8C09-7F54-867537026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EF20D-9ED0-7A4D-BB0D-F82659A8989D}" type="datetimeFigureOut">
              <a:rPr lang="en-CO" smtClean="0"/>
              <a:t>12/08/24</a:t>
            </a:fld>
            <a:endParaRPr lang="en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5031A-4737-9C3F-D143-C832867D4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40A3C1-53A0-B3A7-48B0-0FCBE007A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31DF7-40FC-CA41-9B68-7826511BF655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3788216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24832-8ED8-599F-E2D4-91A201B34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7BA349-9AF7-07B7-C266-E12329E657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6EA84-2644-BC1A-2467-94AAD3277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EF20D-9ED0-7A4D-BB0D-F82659A8989D}" type="datetimeFigureOut">
              <a:rPr lang="en-CO" smtClean="0"/>
              <a:t>12/08/24</a:t>
            </a:fld>
            <a:endParaRPr lang="en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62B67B-A37F-3024-26BC-78F166772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1A1F2-AA5E-310D-2A0E-F5BD8F02C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31DF7-40FC-CA41-9B68-7826511BF655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2900659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F350B-7AEF-AA60-BF0B-337236FCD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8A65B-C743-D6DE-EF13-08F6DF47B2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7D3CC8-2838-6034-7594-1D6845B4B5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ADCBB8-E0AF-B95E-C11F-56E1C4FED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EF20D-9ED0-7A4D-BB0D-F82659A8989D}" type="datetimeFigureOut">
              <a:rPr lang="en-CO" smtClean="0"/>
              <a:t>12/08/24</a:t>
            </a:fld>
            <a:endParaRPr lang="en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C0202E-F454-7C78-89C4-71BD70C2C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5FFCD-3BE3-F104-B4F2-E1358EEFF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31DF7-40FC-CA41-9B68-7826511BF655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361531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BE1AC-14F1-C8C4-C1AE-02B185D36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6AC592-8D61-C0BC-618F-4B6108A9B6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7462AC-8F89-6055-B012-91A90B48F8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760F98-190C-FA23-537E-9312F68C0B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2D23CC-E8CE-749D-55DC-DB919385F5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EDDC61-3A01-5BAF-6532-647A11198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EF20D-9ED0-7A4D-BB0D-F82659A8989D}" type="datetimeFigureOut">
              <a:rPr lang="en-CO" smtClean="0"/>
              <a:t>12/08/24</a:t>
            </a:fld>
            <a:endParaRPr lang="en-C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ABEA3-2D13-1859-44EA-01E5A71AD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BDDCBB-BCDF-A96F-E7D7-3D242CB1C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31DF7-40FC-CA41-9B68-7826511BF655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4165177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32B3D-DA0B-2DDD-56E8-044F72274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12E89A-06D8-3422-50E8-166B815B0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EF20D-9ED0-7A4D-BB0D-F82659A8989D}" type="datetimeFigureOut">
              <a:rPr lang="en-CO" smtClean="0"/>
              <a:t>12/08/24</a:t>
            </a:fld>
            <a:endParaRPr lang="en-C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2AF597-3450-29BC-AB3D-F335EDAB0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C89F0C-E47C-AF43-CA09-3A966470E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31DF7-40FC-CA41-9B68-7826511BF655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192679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F78061-2CB4-6944-B8D2-1EEF943A7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EF20D-9ED0-7A4D-BB0D-F82659A8989D}" type="datetimeFigureOut">
              <a:rPr lang="en-CO" smtClean="0"/>
              <a:t>12/08/24</a:t>
            </a:fld>
            <a:endParaRPr lang="en-C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B58ACB-ED61-F419-48F2-D004305B2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DB2BF3-BA30-3A23-6D87-47D8E5563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31DF7-40FC-CA41-9B68-7826511BF655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2576866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94128-A598-0C06-99F7-29C7BAC78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0DEA0-D24D-9659-814E-FCCEED4F5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B7B6D7-D010-E685-F208-400D4835F8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10940E-B498-7BB9-BB7F-56E437A94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EF20D-9ED0-7A4D-BB0D-F82659A8989D}" type="datetimeFigureOut">
              <a:rPr lang="en-CO" smtClean="0"/>
              <a:t>12/08/24</a:t>
            </a:fld>
            <a:endParaRPr lang="en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AB00BD-C231-7061-7B0D-C68EBC581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AF56B4-A84E-1C86-DADF-029974505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31DF7-40FC-CA41-9B68-7826511BF655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3724033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13340-8EEB-2C3B-93A5-96709874E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E01D04-6E31-169E-28FC-EB2FD05F73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9E2490-15AA-9809-D487-15423B5BCA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F736DF-3C61-2B94-A456-96FC5A259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EF20D-9ED0-7A4D-BB0D-F82659A8989D}" type="datetimeFigureOut">
              <a:rPr lang="en-CO" smtClean="0"/>
              <a:t>12/08/24</a:t>
            </a:fld>
            <a:endParaRPr lang="en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AFE564-EC0E-C722-981D-BE2648382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1FF39-A20A-D98F-FDA1-49148F9AF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31DF7-40FC-CA41-9B68-7826511BF655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3501983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D5C7D-B58A-938E-1217-6BAA0634D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CA13C9-E98B-8F7F-AD29-63E8EEB6D8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D90D1-B40C-0FD2-0712-4555C4FCA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EF20D-9ED0-7A4D-BB0D-F82659A8989D}" type="datetimeFigureOut">
              <a:rPr lang="en-CO" smtClean="0"/>
              <a:t>12/08/24</a:t>
            </a:fld>
            <a:endParaRPr lang="en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227E-40E0-388B-5579-A366E1647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FE11B-5FC8-5B7F-17D9-CE0AE7D1B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31DF7-40FC-CA41-9B68-7826511BF655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037605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9159B4-388F-A465-F642-F2CAC0FA1A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64704B-7233-96A5-1C0F-40C0B857D1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A7105-12C8-A285-9EED-EA93FBFAB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EF20D-9ED0-7A4D-BB0D-F82659A8989D}" type="datetimeFigureOut">
              <a:rPr lang="en-CO" smtClean="0"/>
              <a:t>12/08/24</a:t>
            </a:fld>
            <a:endParaRPr lang="en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EE930-E385-C541-71BE-03EE181FE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E1B7D-E56B-C1F6-AB53-C423C04DE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31DF7-40FC-CA41-9B68-7826511BF655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2298844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E5736D-EE6B-7BDB-F74C-16C213B4D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3E0F5B-7618-E504-A69A-5F629708AA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997FB-6951-9CB5-30FC-43AB127608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6EF20D-9ED0-7A4D-BB0D-F82659A8989D}" type="datetimeFigureOut">
              <a:rPr lang="en-CO" smtClean="0"/>
              <a:t>12/08/24</a:t>
            </a:fld>
            <a:endParaRPr lang="en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EED4D-B5BC-D69B-56B5-B7A86088D1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145B8-E975-F081-D2D5-54E9A8D7B5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431DF7-40FC-CA41-9B68-7826511BF655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3144196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4036380-166F-AE0E-1D58-B660FD424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751" y="0"/>
            <a:ext cx="8872322" cy="6496673"/>
          </a:xfrm>
          <a:prstGeom prst="rect">
            <a:avLst/>
          </a:prstGeom>
        </p:spPr>
      </p:pic>
      <p:sp>
        <p:nvSpPr>
          <p:cNvPr id="10" name="Right Brace 9">
            <a:extLst>
              <a:ext uri="{FF2B5EF4-FFF2-40B4-BE49-F238E27FC236}">
                <a16:creationId xmlns:a16="http://schemas.microsoft.com/office/drawing/2014/main" id="{7CC3EDD9-7C7B-6CD5-85B0-1B0F4A5B2795}"/>
              </a:ext>
            </a:extLst>
          </p:cNvPr>
          <p:cNvSpPr/>
          <p:nvPr/>
        </p:nvSpPr>
        <p:spPr>
          <a:xfrm rot="7165058">
            <a:off x="4008897" y="-643432"/>
            <a:ext cx="1124402" cy="8463360"/>
          </a:xfrm>
          <a:prstGeom prst="rightBrace">
            <a:avLst/>
          </a:prstGeom>
          <a:ln w="88900">
            <a:solidFill>
              <a:schemeClr val="accent2">
                <a:alpha val="9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O" dirty="0"/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B9E4FAC4-9EF5-7EE3-B812-6027F059B01D}"/>
              </a:ext>
            </a:extLst>
          </p:cNvPr>
          <p:cNvSpPr/>
          <p:nvPr/>
        </p:nvSpPr>
        <p:spPr>
          <a:xfrm rot="1651586">
            <a:off x="4298581" y="1639714"/>
            <a:ext cx="918888" cy="1117846"/>
          </a:xfrm>
          <a:prstGeom prst="rightBrace">
            <a:avLst/>
          </a:prstGeom>
          <a:ln w="85725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O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0FCDB4-2363-D1F5-8287-9A3A82EEF0A9}"/>
              </a:ext>
            </a:extLst>
          </p:cNvPr>
          <p:cNvSpPr txBox="1"/>
          <p:nvPr/>
        </p:nvSpPr>
        <p:spPr>
          <a:xfrm>
            <a:off x="1588625" y="-8005"/>
            <a:ext cx="2041742" cy="369332"/>
          </a:xfrm>
          <a:prstGeom prst="rect">
            <a:avLst/>
          </a:prstGeom>
          <a:solidFill>
            <a:schemeClr val="bg1">
              <a:alpha val="7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O" dirty="0">
                <a:solidFill>
                  <a:srgbClr val="FF0000"/>
                </a:solidFill>
              </a:rPr>
              <a:t>Calle 52 con 49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BF2CB5-2660-2660-3807-81F1B7C74342}"/>
              </a:ext>
            </a:extLst>
          </p:cNvPr>
          <p:cNvSpPr txBox="1"/>
          <p:nvPr/>
        </p:nvSpPr>
        <p:spPr>
          <a:xfrm>
            <a:off x="2768160" y="4265458"/>
            <a:ext cx="2542876" cy="646331"/>
          </a:xfrm>
          <a:prstGeom prst="rect">
            <a:avLst/>
          </a:prstGeom>
          <a:solidFill>
            <a:schemeClr val="bg1">
              <a:alpha val="7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O" dirty="0">
                <a:solidFill>
                  <a:srgbClr val="FF0000"/>
                </a:solidFill>
              </a:rPr>
              <a:t>|39 – 49| = 10 Carreras</a:t>
            </a:r>
          </a:p>
          <a:p>
            <a:r>
              <a:rPr lang="en-CO" dirty="0">
                <a:solidFill>
                  <a:srgbClr val="FF0000"/>
                </a:solidFill>
              </a:rPr>
              <a:t>(10x80 metros)  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BADCA5-67FC-713C-9381-2B985FA1F319}"/>
              </a:ext>
            </a:extLst>
          </p:cNvPr>
          <p:cNvSpPr txBox="1"/>
          <p:nvPr/>
        </p:nvSpPr>
        <p:spPr>
          <a:xfrm>
            <a:off x="8154445" y="5123304"/>
            <a:ext cx="1705627" cy="369332"/>
          </a:xfrm>
          <a:prstGeom prst="rect">
            <a:avLst/>
          </a:prstGeom>
          <a:solidFill>
            <a:schemeClr val="bg1">
              <a:alpha val="7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O" dirty="0">
                <a:solidFill>
                  <a:srgbClr val="FF0000"/>
                </a:solidFill>
              </a:rPr>
              <a:t>Cr 39 con 50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749713-7648-93C1-ECB2-5E480A626FFC}"/>
              </a:ext>
            </a:extLst>
          </p:cNvPr>
          <p:cNvSpPr txBox="1"/>
          <p:nvPr/>
        </p:nvSpPr>
        <p:spPr>
          <a:xfrm>
            <a:off x="5382369" y="1875471"/>
            <a:ext cx="2542876" cy="646331"/>
          </a:xfrm>
          <a:prstGeom prst="rect">
            <a:avLst/>
          </a:prstGeom>
          <a:solidFill>
            <a:schemeClr val="bg1">
              <a:alpha val="7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O" dirty="0">
                <a:solidFill>
                  <a:srgbClr val="FF0000"/>
                </a:solidFill>
              </a:rPr>
              <a:t>|52 – 50| = 2 Calles</a:t>
            </a:r>
          </a:p>
          <a:p>
            <a:r>
              <a:rPr lang="en-CO" dirty="0">
                <a:solidFill>
                  <a:srgbClr val="FF0000"/>
                </a:solidFill>
              </a:rPr>
              <a:t>(2x80 metros)    </a:t>
            </a:r>
          </a:p>
        </p:txBody>
      </p:sp>
    </p:spTree>
    <p:extLst>
      <p:ext uri="{BB962C8B-B14F-4D97-AF65-F5344CB8AC3E}">
        <p14:creationId xmlns:p14="http://schemas.microsoft.com/office/powerpoint/2010/main" val="43733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AD4237FB-6726-5DC6-495E-281AAE4BB615}"/>
              </a:ext>
            </a:extLst>
          </p:cNvPr>
          <p:cNvGrpSpPr/>
          <p:nvPr/>
        </p:nvGrpSpPr>
        <p:grpSpPr>
          <a:xfrm>
            <a:off x="3106454" y="2191483"/>
            <a:ext cx="6220025" cy="2141623"/>
            <a:chOff x="3106454" y="2191483"/>
            <a:chExt cx="6220025" cy="2141623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AD3FA5F4-8802-5436-1B32-656AF6C4B30F}"/>
                </a:ext>
              </a:extLst>
            </p:cNvPr>
            <p:cNvCxnSpPr/>
            <p:nvPr/>
          </p:nvCxnSpPr>
          <p:spPr>
            <a:xfrm>
              <a:off x="3106454" y="3429000"/>
              <a:ext cx="6084000" cy="0"/>
            </a:xfrm>
            <a:prstGeom prst="straightConnector1">
              <a:avLst/>
            </a:prstGeom>
            <a:ln w="69850"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7D4D6B5-53E0-246D-B4F3-6B6677122CF4}"/>
                </a:ext>
              </a:extLst>
            </p:cNvPr>
            <p:cNvCxnSpPr/>
            <p:nvPr/>
          </p:nvCxnSpPr>
          <p:spPr>
            <a:xfrm>
              <a:off x="3895595" y="3144033"/>
              <a:ext cx="0" cy="638827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62EBF11-A200-6DF8-47A5-9D55A3188748}"/>
                </a:ext>
              </a:extLst>
            </p:cNvPr>
            <p:cNvCxnSpPr/>
            <p:nvPr/>
          </p:nvCxnSpPr>
          <p:spPr>
            <a:xfrm>
              <a:off x="6778669" y="3144033"/>
              <a:ext cx="0" cy="638827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5DBB109-733E-5636-B082-6021A055DBCF}"/>
                </a:ext>
              </a:extLst>
            </p:cNvPr>
            <p:cNvCxnSpPr/>
            <p:nvPr/>
          </p:nvCxnSpPr>
          <p:spPr>
            <a:xfrm>
              <a:off x="7432110" y="3109586"/>
              <a:ext cx="0" cy="638827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0F558DB-71C5-76AD-AAB6-761FEF6DEDC1}"/>
                </a:ext>
              </a:extLst>
            </p:cNvPr>
            <p:cNvSpPr txBox="1"/>
            <p:nvPr/>
          </p:nvSpPr>
          <p:spPr>
            <a:xfrm>
              <a:off x="3725516" y="3871441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O" sz="2400" b="1" dirty="0"/>
                <a:t>0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06E64D7-C06D-A56E-268F-0850A3F4757A}"/>
                </a:ext>
              </a:extLst>
            </p:cNvPr>
            <p:cNvSpPr txBox="1"/>
            <p:nvPr/>
          </p:nvSpPr>
          <p:spPr>
            <a:xfrm>
              <a:off x="6412222" y="3847287"/>
              <a:ext cx="73289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O" sz="2400" b="1" dirty="0"/>
                <a:t>46.2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FFB130B-8394-FE63-6846-2D67539D1451}"/>
                </a:ext>
              </a:extLst>
            </p:cNvPr>
            <p:cNvSpPr txBox="1"/>
            <p:nvPr/>
          </p:nvSpPr>
          <p:spPr>
            <a:xfrm>
              <a:off x="7195219" y="3846389"/>
              <a:ext cx="73289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O" sz="2400" b="1" dirty="0"/>
                <a:t>55.7</a:t>
              </a:r>
            </a:p>
          </p:txBody>
        </p:sp>
        <p:sp>
          <p:nvSpPr>
            <p:cNvPr id="13" name="Left Brace 12">
              <a:extLst>
                <a:ext uri="{FF2B5EF4-FFF2-40B4-BE49-F238E27FC236}">
                  <a16:creationId xmlns:a16="http://schemas.microsoft.com/office/drawing/2014/main" id="{8B23D9FE-94F7-B3C4-584B-8FFEE3336F10}"/>
                </a:ext>
              </a:extLst>
            </p:cNvPr>
            <p:cNvSpPr/>
            <p:nvPr/>
          </p:nvSpPr>
          <p:spPr>
            <a:xfrm rot="5400000">
              <a:off x="6909798" y="2420410"/>
              <a:ext cx="377922" cy="666701"/>
            </a:xfrm>
            <a:prstGeom prst="leftBrace">
              <a:avLst/>
            </a:prstGeom>
            <a:ln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O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09A4D89-F527-C886-DA55-B9C240B12572}"/>
                </a:ext>
              </a:extLst>
            </p:cNvPr>
            <p:cNvSpPr txBox="1"/>
            <p:nvPr/>
          </p:nvSpPr>
          <p:spPr>
            <a:xfrm>
              <a:off x="6624911" y="2191483"/>
              <a:ext cx="94769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O" sz="2400" dirty="0"/>
                <a:t>9.5cm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CF3FB89-2C3C-161A-6E72-E85680BCC125}"/>
                </a:ext>
              </a:extLst>
            </p:cNvPr>
            <p:cNvSpPr txBox="1"/>
            <p:nvPr/>
          </p:nvSpPr>
          <p:spPr>
            <a:xfrm>
              <a:off x="8766710" y="3430897"/>
              <a:ext cx="55976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O" sz="2400" dirty="0"/>
                <a:t>cm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8937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8885537E-933C-7F14-9469-7C5BFCE2F1D4}"/>
              </a:ext>
            </a:extLst>
          </p:cNvPr>
          <p:cNvGrpSpPr/>
          <p:nvPr/>
        </p:nvGrpSpPr>
        <p:grpSpPr>
          <a:xfrm>
            <a:off x="1023706" y="922382"/>
            <a:ext cx="8241101" cy="3537212"/>
            <a:chOff x="1023706" y="922382"/>
            <a:chExt cx="8241101" cy="3537212"/>
          </a:xfrm>
        </p:grpSpPr>
        <p:sp>
          <p:nvSpPr>
            <p:cNvPr id="4" name="Right Brace 3">
              <a:extLst>
                <a:ext uri="{FF2B5EF4-FFF2-40B4-BE49-F238E27FC236}">
                  <a16:creationId xmlns:a16="http://schemas.microsoft.com/office/drawing/2014/main" id="{CA3CA87F-1AEF-ABE4-D948-E3D659494178}"/>
                </a:ext>
              </a:extLst>
            </p:cNvPr>
            <p:cNvSpPr/>
            <p:nvPr/>
          </p:nvSpPr>
          <p:spPr>
            <a:xfrm rot="5400000">
              <a:off x="6136838" y="1287917"/>
              <a:ext cx="468535" cy="2631600"/>
            </a:xfrm>
            <a:prstGeom prst="rightBrace">
              <a:avLst/>
            </a:prstGeom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O" dirty="0"/>
            </a:p>
          </p:txBody>
        </p:sp>
        <p:sp>
          <p:nvSpPr>
            <p:cNvPr id="5" name="Content Placeholder 2">
              <a:extLst>
                <a:ext uri="{FF2B5EF4-FFF2-40B4-BE49-F238E27FC236}">
                  <a16:creationId xmlns:a16="http://schemas.microsoft.com/office/drawing/2014/main" id="{ACF0832B-18C6-55A3-13C8-9148F028AE27}"/>
                </a:ext>
              </a:extLst>
            </p:cNvPr>
            <p:cNvSpPr txBox="1">
              <a:spLocks/>
            </p:cNvSpPr>
            <p:nvPr/>
          </p:nvSpPr>
          <p:spPr>
            <a:xfrm>
              <a:off x="2765503" y="2910468"/>
              <a:ext cx="4783873" cy="702527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endParaRPr lang="en-CO" dirty="0"/>
            </a:p>
          </p:txBody>
        </p:sp>
        <p:sp>
          <p:nvSpPr>
            <p:cNvPr id="6" name="Content Placeholder 2">
              <a:extLst>
                <a:ext uri="{FF2B5EF4-FFF2-40B4-BE49-F238E27FC236}">
                  <a16:creationId xmlns:a16="http://schemas.microsoft.com/office/drawing/2014/main" id="{D5E8BF78-3655-D043-3679-967256700AF3}"/>
                </a:ext>
              </a:extLst>
            </p:cNvPr>
            <p:cNvSpPr txBox="1">
              <a:spLocks/>
            </p:cNvSpPr>
            <p:nvPr/>
          </p:nvSpPr>
          <p:spPr>
            <a:xfrm>
              <a:off x="4716268" y="2854711"/>
              <a:ext cx="4023268" cy="54979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sz="1800" i="1" dirty="0">
                  <a:solidFill>
                    <a:schemeClr val="accent2">
                      <a:lumMod val="75000"/>
                    </a:schemeClr>
                  </a:solidFill>
                </a:rPr>
                <a:t>Arithmetic expression: </a:t>
              </a:r>
              <a:r>
                <a:rPr lang="en-US" sz="1800" dirty="0"/>
                <a:t>El valor es -0.388</a:t>
              </a:r>
              <a:endParaRPr lang="en-CO" sz="1800" dirty="0"/>
            </a:p>
          </p:txBody>
        </p:sp>
        <p:sp>
          <p:nvSpPr>
            <p:cNvPr id="7" name="Content Placeholder 2">
              <a:extLst>
                <a:ext uri="{FF2B5EF4-FFF2-40B4-BE49-F238E27FC236}">
                  <a16:creationId xmlns:a16="http://schemas.microsoft.com/office/drawing/2014/main" id="{E0B9BFC1-E4EF-9311-6ADC-BE13DB79C60E}"/>
                </a:ext>
              </a:extLst>
            </p:cNvPr>
            <p:cNvSpPr txBox="1">
              <a:spLocks/>
            </p:cNvSpPr>
            <p:nvPr/>
          </p:nvSpPr>
          <p:spPr>
            <a:xfrm>
              <a:off x="4071076" y="922382"/>
              <a:ext cx="2536905" cy="38870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sz="1800" i="1" dirty="0">
                  <a:solidFill>
                    <a:schemeClr val="accent2">
                      <a:lumMod val="75000"/>
                    </a:schemeClr>
                  </a:solidFill>
                </a:rPr>
                <a:t>Name expression: </a:t>
              </a:r>
              <a:r>
                <a:rPr lang="en-US" sz="1800" dirty="0"/>
                <a:t>valor</a:t>
              </a:r>
              <a:r>
                <a:rPr lang="en-US" sz="1800" i="1" dirty="0">
                  <a:solidFill>
                    <a:schemeClr val="accent2">
                      <a:lumMod val="75000"/>
                    </a:schemeClr>
                  </a:solidFill>
                </a:rPr>
                <a:t> </a:t>
              </a:r>
              <a:r>
                <a:rPr lang="en-US" sz="1800" i="1" dirty="0"/>
                <a:t>1.3</a:t>
              </a:r>
              <a:r>
                <a:rPr lang="en-US" sz="1800" dirty="0"/>
                <a:t>, se </a:t>
              </a:r>
              <a:r>
                <a:rPr lang="en-US" sz="1800" dirty="0" err="1"/>
                <a:t>asigno</a:t>
              </a:r>
              <a:r>
                <a:rPr lang="en-US" sz="1800" dirty="0"/>
                <a:t> </a:t>
              </a:r>
              <a:r>
                <a:rPr lang="en-US" sz="1800" dirty="0" err="1"/>
                <a:t>en</a:t>
              </a:r>
              <a:r>
                <a:rPr lang="en-US" sz="1800" dirty="0"/>
                <a:t> </a:t>
              </a:r>
              <a:r>
                <a:rPr lang="en-US" sz="1800" dirty="0" err="1"/>
                <a:t>una</a:t>
              </a:r>
              <a:r>
                <a:rPr lang="en-US" sz="1800" dirty="0"/>
                <a:t> </a:t>
              </a:r>
              <a:r>
                <a:rPr lang="en-US" sz="1800" dirty="0" err="1"/>
                <a:t>celda</a:t>
              </a:r>
              <a:r>
                <a:rPr lang="en-US" sz="1800" dirty="0"/>
                <a:t> previa.</a:t>
              </a:r>
              <a:endParaRPr lang="en-CO" sz="1800" dirty="0"/>
            </a:p>
          </p:txBody>
        </p:sp>
        <p:sp>
          <p:nvSpPr>
            <p:cNvPr id="9" name="Right Brace 8">
              <a:extLst>
                <a:ext uri="{FF2B5EF4-FFF2-40B4-BE49-F238E27FC236}">
                  <a16:creationId xmlns:a16="http://schemas.microsoft.com/office/drawing/2014/main" id="{13AB3958-9680-D74A-AB8E-8F964344CC7C}"/>
                </a:ext>
              </a:extLst>
            </p:cNvPr>
            <p:cNvSpPr/>
            <p:nvPr/>
          </p:nvSpPr>
          <p:spPr>
            <a:xfrm rot="16200000">
              <a:off x="5316347" y="1305634"/>
              <a:ext cx="295503" cy="817757"/>
            </a:xfrm>
            <a:prstGeom prst="rightBrace">
              <a:avLst/>
            </a:prstGeom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O"/>
            </a:p>
          </p:txBody>
        </p:sp>
        <p:sp>
          <p:nvSpPr>
            <p:cNvPr id="10" name="Content Placeholder 2">
              <a:extLst>
                <a:ext uri="{FF2B5EF4-FFF2-40B4-BE49-F238E27FC236}">
                  <a16:creationId xmlns:a16="http://schemas.microsoft.com/office/drawing/2014/main" id="{812C2F2D-0D80-3265-B147-2DBAF782BDFE}"/>
                </a:ext>
              </a:extLst>
            </p:cNvPr>
            <p:cNvSpPr txBox="1">
              <a:spLocks/>
            </p:cNvSpPr>
            <p:nvPr/>
          </p:nvSpPr>
          <p:spPr>
            <a:xfrm>
              <a:off x="6727902" y="1004624"/>
              <a:ext cx="2536905" cy="453614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sz="1800" i="1" dirty="0">
                  <a:solidFill>
                    <a:schemeClr val="accent2">
                      <a:lumMod val="75000"/>
                    </a:schemeClr>
                  </a:solidFill>
                </a:rPr>
                <a:t>Number expression value </a:t>
              </a:r>
              <a:r>
                <a:rPr lang="en-US" sz="1800" dirty="0"/>
                <a:t>valor</a:t>
              </a:r>
              <a:r>
                <a:rPr lang="en-US" sz="1800" i="1" dirty="0">
                  <a:solidFill>
                    <a:schemeClr val="accent2">
                      <a:lumMod val="75000"/>
                    </a:schemeClr>
                  </a:solidFill>
                </a:rPr>
                <a:t> </a:t>
              </a:r>
              <a:r>
                <a:rPr lang="en-US" sz="1800" i="1" dirty="0"/>
                <a:t>1.688.</a:t>
              </a:r>
              <a:endParaRPr lang="en-CO" sz="1800" dirty="0"/>
            </a:p>
          </p:txBody>
        </p:sp>
        <p:sp>
          <p:nvSpPr>
            <p:cNvPr id="11" name="Right Brace 10">
              <a:extLst>
                <a:ext uri="{FF2B5EF4-FFF2-40B4-BE49-F238E27FC236}">
                  <a16:creationId xmlns:a16="http://schemas.microsoft.com/office/drawing/2014/main" id="{E235282A-5B49-265A-48B2-2BF18107F93F}"/>
                </a:ext>
              </a:extLst>
            </p:cNvPr>
            <p:cNvSpPr/>
            <p:nvPr/>
          </p:nvSpPr>
          <p:spPr>
            <a:xfrm rot="16200000">
              <a:off x="6989029" y="1283337"/>
              <a:ext cx="295503" cy="817757"/>
            </a:xfrm>
            <a:prstGeom prst="rightBrace">
              <a:avLst/>
            </a:prstGeom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O"/>
            </a:p>
          </p:txBody>
        </p:sp>
        <p:sp>
          <p:nvSpPr>
            <p:cNvPr id="12" name="Content Placeholder 2">
              <a:extLst>
                <a:ext uri="{FF2B5EF4-FFF2-40B4-BE49-F238E27FC236}">
                  <a16:creationId xmlns:a16="http://schemas.microsoft.com/office/drawing/2014/main" id="{481149D2-8D28-D335-62F2-9A20119590BA}"/>
                </a:ext>
              </a:extLst>
            </p:cNvPr>
            <p:cNvSpPr txBox="1">
              <a:spLocks/>
            </p:cNvSpPr>
            <p:nvPr/>
          </p:nvSpPr>
          <p:spPr>
            <a:xfrm>
              <a:off x="1913595" y="2798468"/>
              <a:ext cx="4023268" cy="54979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sz="1800" i="1" dirty="0">
                  <a:solidFill>
                    <a:schemeClr val="accent2">
                      <a:lumMod val="75000"/>
                    </a:schemeClr>
                  </a:solidFill>
                </a:rPr>
                <a:t>Name expression: </a:t>
              </a: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US" sz="1800" dirty="0" err="1"/>
                <a:t>función</a:t>
              </a:r>
              <a:r>
                <a:rPr lang="en-US" sz="1800" dirty="0"/>
                <a:t> valor </a:t>
              </a:r>
              <a:r>
                <a:rPr lang="en-US" sz="1800" dirty="0" err="1"/>
                <a:t>absoluto</a:t>
              </a:r>
              <a:endParaRPr lang="en-CO" sz="1800" dirty="0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64C14863-BD5B-2D6F-6E89-84D3A1A8AE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01122" y="2369449"/>
              <a:ext cx="1048215" cy="445050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ight Brace 16">
              <a:extLst>
                <a:ext uri="{FF2B5EF4-FFF2-40B4-BE49-F238E27FC236}">
                  <a16:creationId xmlns:a16="http://schemas.microsoft.com/office/drawing/2014/main" id="{3EB80991-15A0-3770-FB3D-0DF011B24B20}"/>
                </a:ext>
              </a:extLst>
            </p:cNvPr>
            <p:cNvSpPr/>
            <p:nvPr/>
          </p:nvSpPr>
          <p:spPr>
            <a:xfrm rot="5400000">
              <a:off x="4218398" y="239793"/>
              <a:ext cx="459673" cy="6849058"/>
            </a:xfrm>
            <a:prstGeom prst="rightBrace">
              <a:avLst/>
            </a:prstGeom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O" dirty="0"/>
            </a:p>
          </p:txBody>
        </p:sp>
        <p:sp>
          <p:nvSpPr>
            <p:cNvPr id="18" name="Content Placeholder 2">
              <a:extLst>
                <a:ext uri="{FF2B5EF4-FFF2-40B4-BE49-F238E27FC236}">
                  <a16:creationId xmlns:a16="http://schemas.microsoft.com/office/drawing/2014/main" id="{1AAD2800-A1B6-EE76-7B24-88EFFB5152C5}"/>
                </a:ext>
              </a:extLst>
            </p:cNvPr>
            <p:cNvSpPr txBox="1">
              <a:spLocks/>
            </p:cNvSpPr>
            <p:nvPr/>
          </p:nvSpPr>
          <p:spPr>
            <a:xfrm>
              <a:off x="1106989" y="3909804"/>
              <a:ext cx="8157818" cy="54979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sz="1800" i="1" dirty="0">
                  <a:solidFill>
                    <a:schemeClr val="accent2">
                      <a:lumMod val="75000"/>
                    </a:schemeClr>
                  </a:solidFill>
                </a:rPr>
                <a:t>Assignment statement, </a:t>
              </a:r>
              <a:r>
                <a:rPr lang="en-US" sz="1800" dirty="0"/>
                <a:t>no </a:t>
              </a:r>
              <a:r>
                <a:rPr lang="en-US" sz="1800" dirty="0" err="1"/>
                <a:t>tiene</a:t>
              </a:r>
              <a:r>
                <a:rPr lang="en-US" sz="1800" dirty="0"/>
                <a:t> valor, La variable </a:t>
              </a:r>
              <a:r>
                <a:rPr lang="en-US" sz="1800" dirty="0" err="1">
                  <a:solidFill>
                    <a:schemeClr val="accent6">
                      <a:lumMod val="75000"/>
                    </a:schemeClr>
                  </a:solidFill>
                </a:rPr>
                <a:t>dif_altura_abs</a:t>
              </a:r>
              <a:r>
                <a:rPr lang="en-US" sz="1800" dirty="0">
                  <a:solidFill>
                    <a:schemeClr val="accent6">
                      <a:lumMod val="75000"/>
                    </a:schemeClr>
                  </a:solidFill>
                </a:rPr>
                <a:t> </a:t>
              </a:r>
              <a:r>
                <a:rPr lang="en-US" sz="1800" dirty="0" err="1"/>
                <a:t>tiene</a:t>
              </a:r>
              <a:r>
                <a:rPr lang="en-US" sz="1800" dirty="0"/>
                <a:t> </a:t>
              </a:r>
              <a:r>
                <a:rPr lang="en-US" sz="1800" dirty="0" err="1"/>
                <a:t>el</a:t>
              </a:r>
              <a:r>
                <a:rPr lang="en-US" sz="1800" dirty="0"/>
                <a:t> valor de 0.388  </a:t>
              </a: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09D13-C87E-6DD4-C95E-EB72DEFC6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 </a:t>
            </a:r>
            <a:r>
              <a:rPr lang="en-US" sz="3600" dirty="0" err="1"/>
              <a:t>dif_altura_abs</a:t>
            </a:r>
            <a:r>
              <a:rPr lang="en-US" sz="3600" dirty="0"/>
              <a:t> = </a:t>
            </a:r>
            <a:r>
              <a:rPr lang="en-US" sz="3600" dirty="0">
                <a:solidFill>
                  <a:srgbClr val="FF0000"/>
                </a:solidFill>
              </a:rPr>
              <a:t>abs</a:t>
            </a:r>
            <a:r>
              <a:rPr lang="en-US" sz="3600" dirty="0"/>
              <a:t> ( </a:t>
            </a:r>
            <a:r>
              <a:rPr lang="en-US" sz="3600" dirty="0" err="1">
                <a:solidFill>
                  <a:schemeClr val="accent1"/>
                </a:solidFill>
              </a:rPr>
              <a:t>altura</a:t>
            </a:r>
            <a:r>
              <a:rPr lang="en-US" sz="3600" dirty="0"/>
              <a:t> -  </a:t>
            </a:r>
            <a:r>
              <a:rPr lang="en-US" sz="3600" dirty="0">
                <a:solidFill>
                  <a:schemeClr val="accent6">
                    <a:lumMod val="75000"/>
                  </a:schemeClr>
                </a:solidFill>
              </a:rPr>
              <a:t>1.688</a:t>
            </a:r>
            <a:r>
              <a:rPr lang="en-US" sz="3600" dirty="0"/>
              <a:t>)</a:t>
            </a:r>
            <a:endParaRPr lang="en-CO" sz="3600" dirty="0"/>
          </a:p>
        </p:txBody>
      </p:sp>
    </p:spTree>
    <p:extLst>
      <p:ext uri="{BB962C8B-B14F-4D97-AF65-F5344CB8AC3E}">
        <p14:creationId xmlns:p14="http://schemas.microsoft.com/office/powerpoint/2010/main" val="2373341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583</TotalTime>
  <Words>102</Words>
  <Application>Microsoft Macintosh PowerPoint</Application>
  <PresentationFormat>Widescreen</PresentationFormat>
  <Paragraphs>18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HERNAN DAVID SALINAS JIMENEZ</dc:creator>
  <cp:lastModifiedBy>HERNAN DAVID SALINAS JIMENEZ</cp:lastModifiedBy>
  <cp:revision>8</cp:revision>
  <dcterms:created xsi:type="dcterms:W3CDTF">2024-08-06T15:54:45Z</dcterms:created>
  <dcterms:modified xsi:type="dcterms:W3CDTF">2024-08-12T14:18:01Z</dcterms:modified>
</cp:coreProperties>
</file>